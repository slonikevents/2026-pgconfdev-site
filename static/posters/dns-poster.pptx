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124113" cy="21388388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>
      <p:cViewPr>
        <p:scale>
          <a:sx n="50" d="100"/>
          <a:sy n="50" d="100"/>
        </p:scale>
        <p:origin x="2488" y="-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001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75B350-14AB-4781-A04B-B389F4C761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88831F-8CD4-498E-9F6F-471FDD43FFBF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34360" y="3500280"/>
            <a:ext cx="12854880" cy="744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992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99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1254DF-3958-47B9-A2A6-49FE4F1CAE8D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41840" y="1425960"/>
            <a:ext cx="4877280" cy="498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5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429600" y="3079440"/>
            <a:ext cx="7655760" cy="1519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5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5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1041840" y="6416640"/>
            <a:ext cx="4877280" cy="1188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1512360">
              <a:lnSpc>
                <a:spcPct val="90000"/>
              </a:lnSpc>
              <a:spcBef>
                <a:spcPts val="1653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26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4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5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6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BC2D821-8882-48B1-8DB3-947B84A1E7FA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41840" y="1425960"/>
            <a:ext cx="4877280" cy="498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5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429600" y="3079440"/>
            <a:ext cx="7655760" cy="1519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001" sz="5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041840" y="6416640"/>
            <a:ext cx="4877280" cy="1188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1512360">
              <a:lnSpc>
                <a:spcPct val="90000"/>
              </a:lnSpc>
              <a:spcBef>
                <a:spcPts val="1653"/>
              </a:spcBef>
              <a:buNone/>
              <a:tabLst>
                <a:tab pos="0" algn="l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26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A354E3-88A2-4DDB-A30C-FA113B5DE4A9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39680" y="1138680"/>
            <a:ext cx="13043880" cy="41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39680" y="5693760"/>
            <a:ext cx="13043880" cy="135698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1E325C9-9D52-4D56-AB27-8D70EA6BDB73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823040" y="1138680"/>
            <a:ext cx="3260520" cy="181249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39680" y="1138680"/>
            <a:ext cx="9593640" cy="181249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916E905-53FE-40B7-8C19-2AE931B3FDA2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39680" y="1138680"/>
            <a:ext cx="13043880" cy="41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039680" y="5693760"/>
            <a:ext cx="13043880" cy="1356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9CA420-B126-4A0F-ADC4-D5C64B576246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031760" y="5332320"/>
            <a:ext cx="13043880" cy="889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992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99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031760" y="14313240"/>
            <a:ext cx="13043880" cy="46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1512360">
              <a:lnSpc>
                <a:spcPct val="90000"/>
              </a:lnSpc>
              <a:spcBef>
                <a:spcPts val="1653"/>
              </a:spcBef>
              <a:buNone/>
              <a:tabLst>
                <a:tab pos="0" algn="l"/>
              </a:tabLst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0FC76E-4708-4166-BE66-73D8EE31C6DD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39680" y="1138680"/>
            <a:ext cx="13043880" cy="41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039680" y="5693760"/>
            <a:ext cx="6427080" cy="1356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7656480" y="5693760"/>
            <a:ext cx="6427080" cy="1356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2A24CF-EF88-4424-BCCE-45BCEDF6803E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041840" y="1138680"/>
            <a:ext cx="13043880" cy="41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041840" y="5243040"/>
            <a:ext cx="6397560" cy="256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1512360">
              <a:lnSpc>
                <a:spcPct val="90000"/>
              </a:lnSpc>
              <a:spcBef>
                <a:spcPts val="1653"/>
              </a:spcBef>
              <a:buNone/>
              <a:tabLst>
                <a:tab pos="0" algn="l"/>
              </a:tabLst>
            </a:pPr>
            <a:r>
              <a:rPr lang="en-US" sz="39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041840" y="7812720"/>
            <a:ext cx="6397560" cy="1149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7656480" y="5243040"/>
            <a:ext cx="6428880" cy="256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1512360">
              <a:lnSpc>
                <a:spcPct val="90000"/>
              </a:lnSpc>
              <a:spcBef>
                <a:spcPts val="1653"/>
              </a:spcBef>
              <a:buNone/>
              <a:tabLst>
                <a:tab pos="0" algn="l"/>
              </a:tabLst>
            </a:pPr>
            <a:r>
              <a:rPr lang="en-US" sz="39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7656480" y="7812720"/>
            <a:ext cx="6428880" cy="1149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78000" indent="-378000" defTabSz="1512360">
              <a:lnSpc>
                <a:spcPct val="90000"/>
              </a:lnSpc>
              <a:spcBef>
                <a:spcPts val="165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6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001" sz="46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34360" lvl="1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001" sz="397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90360" lvl="2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330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001" sz="330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646720" lvl="3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03080" lvl="4" indent="-378000" defTabSz="1512360">
              <a:lnSpc>
                <a:spcPct val="90000"/>
              </a:lnSpc>
              <a:spcBef>
                <a:spcPts val="82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001" sz="2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F3D5DA3-DFAF-4BE7-9225-4204A1667055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39680" y="1138680"/>
            <a:ext cx="13043880" cy="41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8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001" sz="72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B65BBE-482E-40C1-9EB5-F41441041259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103968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5009760" y="19823760"/>
            <a:ext cx="510372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10681560" y="19823760"/>
            <a:ext cx="34023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7C07ABC-874F-412E-B541-6AA3AEDF3587}" type="slidenum">
              <a:rPr lang="en-US" sz="197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hyperlink" Target="mailto:AndrewJackson947@gmail.com" TargetMode="Externa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borodin@acm.org" TargetMode="External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4360" y="151200"/>
            <a:ext cx="14507280" cy="174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151236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One cluster == One DNS record</a:t>
            </a:r>
            <a:endParaRPr lang="en-001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718200" y="2459880"/>
            <a:ext cx="651996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30" b="0" u="none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Andrew Jackson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30" b="0" u="sng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  <a:hlinkClick r:id="rId3"/>
              </a:rPr>
              <a:t>AndrewJackson947@gmail.com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511560" y="8225640"/>
            <a:ext cx="6346080" cy="941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Patch idea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: Implement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try_all_addrs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 connection parameter that enables HA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postgres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 clusters to sit behind a single DNS name/port.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$ cat /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etc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/hosts | grep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pg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-load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127.0.0.1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pg-loadbalancetest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127.0.0.2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pg-loadbalancetest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127.0.0.3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pg-loadbalancetest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psql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 “host=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pg-loadbalancetest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try_all_addrs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Unifont"/>
              </a:rPr>
              <a:t>=1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target_session_attrs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=read-write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”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The idea here is that it may be a reasonable assumption, in many environments, that every service sitting behind a given A record/port combination is homogeneous (all primaries, all standbys, multiple IPs pointing to the same hardware,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etc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), but for admins that want to set their HA cluster behind a single A record this opt in connection parameter will still allow it.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Pros: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Very small change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Backwards Compatible: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functionality is entirely opt</a:t>
            </a:r>
            <a:r>
              <a:rPr lang="ru-RU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in, preserving the “fail fast” default functionality.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Open Questions: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 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Makes changes to </a:t>
            </a:r>
            <a:r>
              <a:rPr lang="en-US" sz="1800" b="0" u="sng" strike="noStrike" dirty="0" err="1">
                <a:solidFill>
                  <a:srgbClr val="000000"/>
                </a:solidFill>
                <a:effectLst/>
                <a:uFillTx/>
                <a:latin typeface="Menlo"/>
              </a:rPr>
              <a:t>PqConnectPoll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. This function is incredibly complex, is synchronous and is probably due for a general refactor that this patch may make more difficult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- 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Performance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</a:rPr>
              <a:t>: Hosts are connected in sequential order, would be more optimal if multiple hosts could be tried at once.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685800" y="6172200"/>
            <a:ext cx="704520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tabLst>
                <a:tab pos="0" algn="l"/>
              </a:tabLst>
            </a:pPr>
            <a:endParaRPr lang="en-US" sz="14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7238520" y="4491360"/>
            <a:ext cx="716292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tabLst>
                <a:tab pos="0" algn="l"/>
              </a:tabLst>
            </a:pPr>
            <a:endParaRPr lang="en-US" sz="14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4"/>
          <p:cNvSpPr/>
          <p:nvPr/>
        </p:nvSpPr>
        <p:spPr>
          <a:xfrm>
            <a:off x="7844040" y="11031120"/>
            <a:ext cx="683784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endParaRPr lang="en-US" sz="182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7562160" y="8688240"/>
            <a:ext cx="7045200" cy="1006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Patch idea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: implement DNS SRV record support in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libpq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, enabling a single SRV name to resolve to multiple hostname/port combinations for HA cluster discovery.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$ dig 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postgresql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tcp.mydb.prod.example.com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 SRV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;; ANSWER SECTION: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postgresql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tcp.mydb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...  SRV 1 1 5432 node1.example.com.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postgresql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tcp.mydb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...  SRV 2 1 5433 node2.example.com.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postgresql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._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tcp.mydb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...  SRV 3 1 5434 node3.example.com.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psql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 ”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postgres+srv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mydb.prod.example.com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target_session_attrs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=read-write"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SRV records return several hostnames.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libpq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 resolves each SRV target to an IP via A/AAAA lookup and then tries host/port pairs one by one following RFC 2782 priority and weight ordering until a suitable server is found.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Pros: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Port info in DNS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: each SRV record includes hostnames and port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Priority and weight support: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 RFC 2782 priority/weight fields.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Open Questions:</a:t>
            </a:r>
          </a:p>
          <a:p>
            <a:pPr defTabSz="457200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Menlo"/>
                <a:ea typeface="Menlo"/>
              </a:rPr>
              <a:t>- </a:t>
            </a:r>
            <a:r>
              <a:rPr lang="en-US" u="sng" dirty="0">
                <a:solidFill>
                  <a:srgbClr val="000000"/>
                </a:solidFill>
                <a:latin typeface="Menlo"/>
                <a:ea typeface="Menlo"/>
              </a:rPr>
              <a:t>New URL schema</a:t>
            </a:r>
            <a:r>
              <a:rPr lang="en-US" dirty="0">
                <a:solidFill>
                  <a:srgbClr val="000000"/>
                </a:solidFill>
                <a:latin typeface="Menlo"/>
                <a:ea typeface="Menlo"/>
              </a:rPr>
              <a:t>: a lot of infrastructural components might </a:t>
            </a:r>
            <a:r>
              <a:rPr lang="en-US">
                <a:solidFill>
                  <a:srgbClr val="000000"/>
                </a:solidFill>
                <a:latin typeface="Menlo"/>
                <a:ea typeface="Menlo"/>
              </a:rPr>
              <a:t>be surprised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- </a:t>
            </a:r>
            <a:r>
              <a:rPr lang="en-US" sz="1800" b="0" u="sng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Platform DNS API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: SRV lookups require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res_query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() / </a:t>
            </a:r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DnsQuery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() which are not uniformly available. The patch must handle portability across Linux, macOS, and Windows cleanly.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8" descr="PGConf.dev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</a:extLst>
          </a:blip>
          <a:stretch/>
        </p:blipFill>
        <p:spPr>
          <a:xfrm>
            <a:off x="4269600" y="20214720"/>
            <a:ext cx="3862440" cy="64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23"/>
          <p:cNvSpPr/>
          <p:nvPr/>
        </p:nvSpPr>
        <p:spPr>
          <a:xfrm rot="21470400">
            <a:off x="8143920" y="20262960"/>
            <a:ext cx="1344240" cy="63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2026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4699000" y="19386720"/>
            <a:ext cx="522233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Menlo"/>
                <a:ea typeface="Menlo"/>
                <a:sym typeface="Wingdings" pitchFamily="2" charset="2"/>
              </a:rPr>
              <a:t>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Commitfest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 items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Menlo"/>
                <a:ea typeface="Menlo"/>
                <a:sym typeface="Wingdings" pitchFamily="2" charset="2"/>
              </a:rPr>
              <a:t>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7488360" y="2452680"/>
            <a:ext cx="6519960" cy="83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30" b="0" u="none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 Andrey Borodin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30" b="0" u="sng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  <a:hlinkClick r:id="rId6"/>
              </a:rPr>
              <a:t>amborodin@acm.org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"/>
          <p:cNvSpPr/>
          <p:nvPr/>
        </p:nvSpPr>
        <p:spPr>
          <a:xfrm>
            <a:off x="511560" y="3394440"/>
            <a:ext cx="13903200" cy="175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Problem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: Currently there is no built-in option to use a single DNS name to define a cluster of postgres instances for users to connect to. Currently libpq support target_session_attrs and looking up multiple IP’s from an A DNS record but if that record/port combination houses standbys and primaries, it will fail if it finds a primary when you specify a standby (for example). Because of this additional infrastructure is required to implement the client side of HA (VIPs, CNAME’s, LDAP connection parameter lookup, reverse proxy, etc).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626960" y="5250240"/>
            <a:ext cx="6476760" cy="34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raphic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84720" y="5393880"/>
            <a:ext cx="6476760" cy="304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6"/>
          <p:cNvPicPr/>
          <p:nvPr/>
        </p:nvPicPr>
        <p:blipFill>
          <a:blip r:embed="rId9"/>
          <a:stretch/>
        </p:blipFill>
        <p:spPr>
          <a:xfrm>
            <a:off x="2344680" y="18996183"/>
            <a:ext cx="1339920" cy="130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7"/>
          <p:cNvPicPr/>
          <p:nvPr/>
        </p:nvPicPr>
        <p:blipFill>
          <a:blip r:embed="rId10"/>
          <a:stretch/>
        </p:blipFill>
        <p:spPr>
          <a:xfrm>
            <a:off x="10617840" y="18996183"/>
            <a:ext cx="1290240" cy="129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16150</TotalTime>
  <Words>586</Words>
  <Application>Microsoft Macintosh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Menlo</vt:lpstr>
      <vt:lpstr>Times New Roman</vt:lpstr>
      <vt:lpstr>Office Theme</vt:lpstr>
      <vt:lpstr>One cluster == One DNS record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technologies in PostgreSQL:  present state and future ideas</dc:title>
  <dc:subject/>
  <dc:creator>Andrew Borodin</dc:creator>
  <dc:description/>
  <cp:lastModifiedBy>Andrey M. Borodin</cp:lastModifiedBy>
  <cp:revision>37</cp:revision>
  <dcterms:created xsi:type="dcterms:W3CDTF">2017-08-09T15:49:54Z</dcterms:created>
  <dcterms:modified xsi:type="dcterms:W3CDTF">2026-05-03T04:59:15Z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